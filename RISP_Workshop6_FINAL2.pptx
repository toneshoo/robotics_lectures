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24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56032"/>
            <a:ext cx="1828800" cy="36576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0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F1E"/>
                </a:solidFill>
              </a:rPr>
              <a:t>RISP WORKSHOP 6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AUTONOMY LAYER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743200" y="178308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7FECF5"/>
                </a:solidFill>
              </a:rPr>
              <a:t>Practical Approach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0" y="2514600"/>
            <a:ext cx="6217920" cy="457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0" y="261518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90A8"/>
                </a:solidFill>
              </a:rPr>
              <a:t>From sensing to decision — making robots act automatically.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01168" y="3749040"/>
            <a:ext cx="1371600" cy="111556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8221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Autonomy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Fundamentals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682496" y="3749040"/>
            <a:ext cx="1371600" cy="111556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38221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82496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FSM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Concepts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163824" y="3749040"/>
            <a:ext cx="1371600" cy="111556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8221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163824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FSM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Exercise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645152" y="3749040"/>
            <a:ext cx="1371600" cy="111556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928" y="3822192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45152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Tinkercad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Impl.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6126480" y="3749040"/>
            <a:ext cx="1371600" cy="111556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3822192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26480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ROS2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Intro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7607808" y="3749040"/>
            <a:ext cx="1371600" cy="111556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4" y="3822192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607808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Bridge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ECF5"/>
                </a:solidFill>
              </a:rPr>
              <a:t>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18872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548640" cy="11887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984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10058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Autonomy Fundamentals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44168" y="14447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How robots sense, decide, and act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548640" cy="1188720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09160" y="914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29844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24728" y="10058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FSM Concepts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824728" y="14447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States, transitions, and behavior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28600" y="2286000"/>
            <a:ext cx="4206240" cy="1188720"/>
          </a:xfrm>
          <a:prstGeom prst="rect">
            <a:avLst/>
          </a:prstGeom>
          <a:solidFill>
            <a:srgbClr val="0F233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28600" y="2286000"/>
            <a:ext cx="548640" cy="1188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28600" y="22860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67004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44168" y="23774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FSM Exercise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344168" y="28163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Design your own FSM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0F233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286000"/>
            <a:ext cx="548640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709160" y="22860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7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67004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24728" y="23774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Tinkercad Implementation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824728" y="28163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Read → Decide → Execute in code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0F2339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228600" y="3657600"/>
            <a:ext cx="548640" cy="118872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228600" y="36576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7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041648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44168" y="37490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ROS2 Introduction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344168" y="4187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Nodes, topics, live in your VM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709160" y="3657600"/>
            <a:ext cx="4206240" cy="1188720"/>
          </a:xfrm>
          <a:prstGeom prst="rect">
            <a:avLst/>
          </a:prstGeom>
          <a:solidFill>
            <a:srgbClr val="0F233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4709160" y="3657600"/>
            <a:ext cx="548640" cy="1188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4709160" y="36576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7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4041648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824728" y="37490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Bridge to Intelligence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824728" y="4187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Autonomy reacts, AI understands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4008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AUTONOMY FUNDAMENTALS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90A8"/>
                </a:solidFill>
              </a:rPr>
              <a:t>How do robots decide what to do next?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AUTONOMY?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E8F0"/>
                </a:solidFill>
              </a:rPr>
              <a:t>Autonomy is the ability of a robot to make decisions and act without human input.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417320"/>
            <a:ext cx="2743200" cy="2514600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2743200" cy="64008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55448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1965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20040" y="2487168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0"/>
                </a:solidFill>
              </a:rPr>
              <a:t>Gather data from the environment using sensors — ultrasonic, IR, camera, IMU, GPS.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154680" y="1417320"/>
            <a:ext cx="2743200" cy="251460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54680" y="1417320"/>
            <a:ext cx="2743200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15544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54680" y="1965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DECIDE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291840" y="2487168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0"/>
                </a:solidFill>
              </a:rPr>
              <a:t>Process sensor data with a decision algorithm — FSM, PID, behavior tree, neural net.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743200" cy="2514600"/>
          </a:xfrm>
          <a:prstGeom prst="rect">
            <a:avLst/>
          </a:prstGeom>
          <a:solidFill>
            <a:srgbClr val="0F233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55448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1965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263640" y="2487168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0"/>
                </a:solidFill>
              </a:rPr>
              <a:t>Send commands to actuators — motors, servos, grippers — to affect the environment.</a:t>
            </a:r>
            <a:endParaRPr lang="en-US" sz="11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368" y="2542032"/>
            <a:ext cx="384048" cy="292608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542032"/>
            <a:ext cx="384048" cy="29260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82880" y="4114800"/>
            <a:ext cx="8778240" cy="74980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365760" y="416966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ECF5"/>
                </a:solidFill>
              </a:rPr>
              <a:t>This loop runs continuously — hundreds of times per second in real systems. Speed and reliability of each stage determines robot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AUTONOMY FEEDBACK LOOP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1600200" cy="1920240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1600200" cy="384048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SENSORS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426464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Ultrasonic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Camera / IMU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GPS / LIDAR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19072"/>
            <a:ext cx="32004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75104" y="1005840"/>
            <a:ext cx="1600200" cy="192024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975104" y="1005840"/>
            <a:ext cx="1600200" cy="38404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975104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PERCEPTION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66544" y="1426464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Filter noise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Extract features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Map build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1719072"/>
            <a:ext cx="32004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67328" y="1005840"/>
            <a:ext cx="1600200" cy="1920240"/>
          </a:xfrm>
          <a:prstGeom prst="rect">
            <a:avLst/>
          </a:prstGeom>
          <a:solidFill>
            <a:srgbClr val="0F2339"/>
          </a:solidFill>
          <a:ln w="12700">
            <a:solidFill>
              <a:srgbClr val="00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767328" y="1005840"/>
            <a:ext cx="1600200" cy="384048"/>
          </a:xfrm>
          <a:prstGeom prst="rect">
            <a:avLst/>
          </a:prstGeom>
          <a:solidFill>
            <a:srgbClr val="009AAA"/>
          </a:solidFill>
          <a:ln w="12700">
            <a:solidFill>
              <a:srgbClr val="00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767328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DECISION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858768" y="1426464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FSM / Planner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Behavior tree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Algorithm</a:t>
            </a:r>
            <a:endParaRPr lang="en-US" sz="10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719072"/>
            <a:ext cx="32004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559552" y="1005840"/>
            <a:ext cx="1600200" cy="1920240"/>
          </a:xfrm>
          <a:prstGeom prst="rect">
            <a:avLst/>
          </a:prstGeom>
          <a:solidFill>
            <a:srgbClr val="0F2339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559552" y="1005840"/>
            <a:ext cx="1600200" cy="384048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559552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CONTROL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650992" y="1426464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PID loop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Direct command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Safety check</a:t>
            </a:r>
            <a:endParaRPr lang="en-US" sz="10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719072"/>
            <a:ext cx="320040" cy="2743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351776" y="1005840"/>
            <a:ext cx="1600200" cy="1920240"/>
          </a:xfrm>
          <a:prstGeom prst="rect">
            <a:avLst/>
          </a:prstGeom>
          <a:solidFill>
            <a:srgbClr val="0F233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351776" y="1005840"/>
            <a:ext cx="160020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351776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ACTUATORS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443216" y="1426464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Motors / ESCs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Servos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Grippers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82880" y="3127248"/>
            <a:ext cx="8778240" cy="54864"/>
          </a:xfrm>
          <a:prstGeom prst="rect">
            <a:avLst/>
          </a:prstGeom>
          <a:solidFill>
            <a:srgbClr val="6E90A8"/>
          </a:solidFill>
          <a:ln w="1270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182880" y="321868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90A8"/>
                </a:solidFill>
              </a:rPr>
              <a:t>FEEDBACK: Actuator output changes the environment — sensors pick it up again next cycle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28600" y="36576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REAL-WORLD EXAMPLES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228600" y="4041648"/>
            <a:ext cx="4206240" cy="438912"/>
          </a:xfrm>
          <a:prstGeom prst="rect">
            <a:avLst/>
          </a:prstGeom>
          <a:solidFill>
            <a:srgbClr val="0F2339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228600" y="4041648"/>
            <a:ext cx="54864" cy="4389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393192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IF  Obstacle at 18 cm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3063240" y="40416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</a:rPr>
              <a:t>→  STOP + back up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709160" y="4041648"/>
            <a:ext cx="4206240" cy="438912"/>
          </a:xfrm>
          <a:prstGeom prst="rect">
            <a:avLst/>
          </a:prstGeom>
          <a:solidFill>
            <a:srgbClr val="0F233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709160" y="4041648"/>
            <a:ext cx="54864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4873752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IF  Path clear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7543800" y="40416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→  MOVE FORWARD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228600" y="4553712"/>
            <a:ext cx="4206240" cy="438912"/>
          </a:xfrm>
          <a:prstGeom prst="rect">
            <a:avLst/>
          </a:prstGeom>
          <a:solidFill>
            <a:srgbClr val="0F233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228600" y="4553712"/>
            <a:ext cx="54864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393192" y="45537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IF  Left blocked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3063240" y="45537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→  TURN RIGHT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4709160" y="4553712"/>
            <a:ext cx="4206240" cy="438912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4709160" y="4553712"/>
            <a:ext cx="54864" cy="438912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4873752" y="45537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IF  Person detected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7543800" y="45537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ECF5"/>
                </a:solidFill>
              </a:rPr>
              <a:t>→  SLOW + greet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4008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FINITE STATE MACHINES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90A8"/>
                </a:solidFill>
              </a:rPr>
              <a:t>Giving robots memory and structure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FSM — AND WHY USE ONE?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160520" cy="397764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16052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WHAT IS AN FSM?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3977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A Finite State Machine is a model of computation that: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  • Has a finite number of states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  • Is always in exactly ONE state at a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  • Transitions between states based on inputs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  • Produces outputs based on current state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It is one of the oldest and most reliable tools in embedded and robotics programming.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4343400" cy="3977640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343400" cy="54864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ECF5"/>
                </a:solidFill>
              </a:rPr>
              <a:t>WHY USE AN FSM?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2704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20640" y="1417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Predictable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20640" y="17373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Every behavior is explicitly defined — no surprises or undefined states.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2199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20640" y="21122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Debuggable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120640" y="2432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You always know which state the robot is in at any moment.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1693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0640" y="2807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Scalable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120640" y="31272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Add new states without breaking existing ones.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6118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0640" y="3502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Efficient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120640" y="3822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Runs fast — just comparisons and variable assignments.</a:t>
            </a:r>
            <a:endParaRPr lang="en-US" sz="10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30682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20640" y="41970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Universal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120640" y="45171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Works on Arduino, PIC, FPGA, ROS — any platform.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FSM: STATES &amp; TRANSITIONS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023360" cy="38404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ROBOT STATES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371600"/>
            <a:ext cx="4023360" cy="768096"/>
          </a:xfrm>
          <a:prstGeom prst="rect">
            <a:avLst/>
          </a:prstGeom>
          <a:solidFill>
            <a:srgbClr val="0F233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" y="155448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1408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MOVE_FORWARD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7739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Drive straight ahead at full speed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267712"/>
            <a:ext cx="4023360" cy="768096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2450592"/>
            <a:ext cx="384048" cy="384048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2304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</a:rPr>
              <a:t>TURN_LEFT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670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Rotate left until obstacle is cleared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163824"/>
            <a:ext cx="4023360" cy="768096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3346704"/>
            <a:ext cx="384048" cy="384048"/>
          </a:xfrm>
          <a:prstGeom prst="ellipse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ECF5"/>
                </a:solidFill>
              </a:rPr>
              <a:t>TURN_RIGHT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566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Rotate right until obstacle is cleared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4059936"/>
            <a:ext cx="4023360" cy="768096"/>
          </a:xfrm>
          <a:prstGeom prst="rect">
            <a:avLst/>
          </a:prstGeom>
          <a:solidFill>
            <a:srgbClr val="0F2339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2608" y="4242816"/>
            <a:ext cx="384048" cy="38404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4096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</a:rPr>
              <a:t>STOP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4622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Halt all motors — safety state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868680"/>
            <a:ext cx="4389120" cy="384048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868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4"/>
                </a:solidFill>
              </a:rPr>
              <a:t>TRANSITION RULES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1371600"/>
            <a:ext cx="4389120" cy="768096"/>
          </a:xfrm>
          <a:prstGeom prst="rect">
            <a:avLst/>
          </a:prstGeom>
          <a:solidFill>
            <a:srgbClr val="091929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1371600"/>
            <a:ext cx="457200" cy="76809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1371600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F1E"/>
                </a:solidFill>
              </a:rPr>
              <a:t>P1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14630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front &lt; 20 cm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267712"/>
            <a:ext cx="4389120" cy="768096"/>
          </a:xfrm>
          <a:prstGeom prst="rect">
            <a:avLst/>
          </a:prstGeom>
          <a:solidFill>
            <a:srgbClr val="09192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2267712"/>
            <a:ext cx="457200" cy="768096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2267712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F1E"/>
                </a:solidFill>
              </a:rPr>
              <a:t>P2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left &lt; 15 cm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2706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TURN_RIGHT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3163824"/>
            <a:ext cx="4389120" cy="768096"/>
          </a:xfrm>
          <a:prstGeom prst="rect">
            <a:avLst/>
          </a:prstGeom>
          <a:solidFill>
            <a:srgbClr val="09192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3163824"/>
            <a:ext cx="457200" cy="768096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3163824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F1E"/>
                </a:solidFill>
              </a:rPr>
              <a:t>P3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3255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right &lt; 15 cm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3602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TURN_LEFT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4059936"/>
            <a:ext cx="4389120" cy="768096"/>
          </a:xfrm>
          <a:prstGeom prst="rect">
            <a:avLst/>
          </a:prstGeom>
          <a:solidFill>
            <a:srgbClr val="09192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0" y="4059936"/>
            <a:ext cx="457200" cy="7680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0" y="4059936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F1E"/>
                </a:solidFill>
              </a:rPr>
              <a:t>P4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41513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all sensors clear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20640" y="4498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MOVE_FORWARD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FSM STATE DIAGRAM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798141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90A8"/>
                </a:solidFill>
              </a:rPr>
              <a:t>Each circle is a state. Each arrow is a transition triggered by a sensor condition.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1188720"/>
            <a:ext cx="1645920" cy="8686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49040" y="1188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F1E"/>
                </a:solidFill>
              </a:rPr>
              <a:t>MOVE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0F1E"/>
                </a:solidFill>
              </a:rPr>
              <a:t>FORWARD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28762"/>
            <a:ext cx="1645920" cy="868680"/>
          </a:xfrm>
          <a:prstGeom prst="ellipse">
            <a:avLst/>
          </a:prstGeom>
          <a:solidFill>
            <a:srgbClr val="00C2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F1E"/>
                </a:solidFill>
              </a:rPr>
              <a:t>TURN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0F1E"/>
                </a:solidFill>
              </a:rPr>
              <a:t>LEFT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2852928"/>
            <a:ext cx="1645920" cy="868680"/>
          </a:xfrm>
          <a:prstGeom prst="ellipse">
            <a:avLst/>
          </a:prstGeom>
          <a:solidFill>
            <a:srgbClr val="7FECF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2834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F1E"/>
                </a:solidFill>
              </a:rPr>
              <a:t>TURN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0F1E"/>
                </a:solidFill>
              </a:rPr>
              <a:t>RIGHT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3931920"/>
            <a:ext cx="1645920" cy="86868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3931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F1E"/>
                </a:solidFill>
              </a:rPr>
              <a:t>STOP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0" cy="1874520"/>
          </a:xfrm>
          <a:prstGeom prst="line">
            <a:avLst/>
          </a:prstGeom>
          <a:noFill/>
          <a:ln w="1905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front &lt; 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0908" y="3328416"/>
            <a:ext cx="1371600" cy="1207008"/>
          </a:xfrm>
          <a:prstGeom prst="line">
            <a:avLst/>
          </a:prstGeom>
          <a:noFill/>
          <a:ln w="1905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57400" y="202409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D4"/>
                </a:solidFill>
              </a:rPr>
              <a:t>right &lt; 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1627632"/>
            <a:ext cx="1371600" cy="1207008"/>
          </a:xfrm>
          <a:prstGeom prst="line">
            <a:avLst/>
          </a:prstGeom>
          <a:noFill/>
          <a:ln w="1905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984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ECF5"/>
                </a:solidFill>
              </a:rPr>
              <a:t>left &lt;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flipH="1">
            <a:off x="1776547" y="1670086"/>
            <a:ext cx="1946366" cy="1164553"/>
          </a:xfrm>
          <a:prstGeom prst="line">
            <a:avLst/>
          </a:prstGeom>
          <a:noFill/>
          <a:ln w="1905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03120" y="192350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clear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H="1">
            <a:off x="5394960" y="3438144"/>
            <a:ext cx="1371600" cy="1097280"/>
          </a:xfrm>
          <a:prstGeom prst="line">
            <a:avLst/>
          </a:prstGeom>
          <a:noFill/>
          <a:ln w="1905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80760" y="1874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clear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21777" y="2043684"/>
            <a:ext cx="0" cy="1874520"/>
          </a:xfrm>
          <a:prstGeom prst="line">
            <a:avLst/>
          </a:prstGeom>
          <a:noFill/>
          <a:ln w="1905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02529" y="2770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front &gt; 30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4773168"/>
            <a:ext cx="8778240" cy="274320"/>
          </a:xfrm>
          <a:prstGeom prst="rect">
            <a:avLst/>
          </a:prstGeom>
          <a:solidFill>
            <a:srgbClr val="132944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4818888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0" y="4818888"/>
            <a:ext cx="182880" cy="182880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4818888"/>
            <a:ext cx="182880" cy="182880"/>
          </a:xfrm>
          <a:prstGeom prst="ellipse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49440" y="4818888"/>
            <a:ext cx="182880" cy="18288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" y="4782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90A8"/>
                </a:solidFill>
              </a:rPr>
              <a:t>MOVE_FORWARD                                               TURN_LEFT                                                             TURN_RIGHT                                                          STOP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4008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FSM EXERCISE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90A8"/>
                </a:solidFill>
              </a:rPr>
              <a:t>Design your own state machine — time to think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CHALLENGE: 3-SENSOR FSM DESIGN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8778240" cy="566928"/>
          </a:xfrm>
          <a:prstGeom prst="rect">
            <a:avLst/>
          </a:prstGeom>
          <a:solidFill>
            <a:srgbClr val="132944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859536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Design a complete FSM for a robot with FRONT, LEFT, and RIGHT ultrasonic sensors. Define every state and every transition.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" y="1508760"/>
            <a:ext cx="2788920" cy="1691640"/>
          </a:xfrm>
          <a:prstGeom prst="rect">
            <a:avLst/>
          </a:prstGeom>
          <a:solidFill>
            <a:srgbClr val="091929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508760"/>
            <a:ext cx="278892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62763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FRONT Sensor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2608" y="1993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</a:rPr>
              <a:t>Threshold: 20 cm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92608" y="232257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Detects obstacles directly ahead.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Highest priority — triggers STOP.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172968" y="1508760"/>
            <a:ext cx="2788920" cy="1691640"/>
          </a:xfrm>
          <a:prstGeom prst="rect">
            <a:avLst/>
          </a:prstGeom>
          <a:solidFill>
            <a:srgbClr val="09192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172968" y="1508760"/>
            <a:ext cx="2788920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6276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67328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LEFT Sensor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282696" y="1993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</a:rPr>
              <a:t>Threshold: 15 cm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282696" y="232257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Detects walls on the left side.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Triggers TURN_RIGHT.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63056" y="1508760"/>
            <a:ext cx="2788920" cy="1691640"/>
          </a:xfrm>
          <a:prstGeom prst="rect">
            <a:avLst/>
          </a:prstGeom>
          <a:solidFill>
            <a:srgbClr val="09192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163056" y="1508760"/>
            <a:ext cx="278892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62763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57416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RIGHT Sensor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272784" y="1993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</a:rPr>
              <a:t>Threshold: 15 cm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272784" y="232257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Detects walls on the right.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Triggers TURN_LEFT.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82880" y="33375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DESIGN PROCESS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182880" y="3730752"/>
            <a:ext cx="4206240" cy="45720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82880" y="3730752"/>
            <a:ext cx="384048" cy="4572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82880" y="37307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F1E"/>
                </a:solidFill>
              </a:rPr>
              <a:t>1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58368" y="3730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 all states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103120" y="3730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What distinct behaviors can your robot have?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663440" y="3730752"/>
            <a:ext cx="4206240" cy="45720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663440" y="3730752"/>
            <a:ext cx="384048" cy="4572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4663440" y="37307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F1E"/>
                </a:solidFill>
              </a:rPr>
              <a:t>2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138928" y="3730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Define transitions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583680" y="3730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For each state, what sensor values cause a change?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182880" y="4279392"/>
            <a:ext cx="4206240" cy="45720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182880" y="4279392"/>
            <a:ext cx="384048" cy="4572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182880" y="42793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F1E"/>
                </a:solidFill>
              </a:rPr>
              <a:t>3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658368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Draw the diagram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2103120" y="4279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Circles = states. Arrows = transitions with labels.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4663440" y="4279392"/>
            <a:ext cx="4206240" cy="45720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4663440" y="4279392"/>
            <a:ext cx="384048" cy="4572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4663440" y="42793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F1E"/>
                </a:solidFill>
              </a:rPr>
              <a:t>4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5138928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Write the truth table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6583680" y="4279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Map every sensor combination to an output state.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4008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TINKERCAD IMPLEMENTATION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90A8"/>
                </a:solidFill>
              </a:rPr>
              <a:t>Turning your FSM into real working code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READ YOUR SENSORS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7863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90A8"/>
                </a:solidFill>
              </a:rPr>
              <a:t>Before your robot can decide anything, it needs to know what is around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5029200" cy="2377440"/>
          </a:xfrm>
          <a:prstGeom prst="rect">
            <a:avLst/>
          </a:prstGeom>
          <a:solidFill>
            <a:srgbClr val="09192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234440"/>
            <a:ext cx="502920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7101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sensor_read.ino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63624"/>
            <a:ext cx="4864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Simulated reads (Tinkercad)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front = readFront();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left  = readLeft();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right = readRight();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 HC-SR04 ultrasonic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dur = pulseIn(echoPin, HIGH);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dist = dur * 0.034 / 2;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234440"/>
            <a:ext cx="3566160" cy="2377440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356616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32120" y="1261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ECF5"/>
                </a:solidFill>
              </a:rPr>
              <a:t>HOW HC-SR04 WORKS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15910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1.  Trigger pin sends 10 microsecond pulse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32120" y="19751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2.  Sound wave travels out at 340 m/s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32120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3.  Echo pin goes HIGH when pulse returns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32120" y="2743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4.  pulseIn() measures time in microseconds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32120" y="31272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0"/>
                </a:solidFill>
              </a:rPr>
              <a:t>5.  Distance = time x speed / 2 (round trip)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3767328"/>
            <a:ext cx="8778240" cy="111556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80390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KEY CONCEPTS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9664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" y="4151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Noise filtering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Average 3-5 readings to remove false spikes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4169664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611880" y="4151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Update rate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611880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Read every 20-50ms for smooth control</a:t>
            </a:r>
            <a:endParaRPr lang="en-US" sz="10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69664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37960" y="4151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Deadband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537960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Ignore tiny changes (&lt;2cm) to avoid jitter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— DEFINE YOUR STATES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5029200" cy="2468880"/>
          </a:xfrm>
          <a:prstGeom prst="rect">
            <a:avLst/>
          </a:prstGeom>
          <a:solidFill>
            <a:srgbClr val="09192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502920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ECF5"/>
                </a:solidFill>
              </a:rPr>
              <a:t>states.ino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243584"/>
            <a:ext cx="486460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possible robot behaviors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State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MOVE_FORWARD,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TURN_LEFT,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TURN_RIGHT,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Starts moving forward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currentState = MOVE_FORWARD;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914400"/>
            <a:ext cx="3566160" cy="2468880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0" y="914400"/>
            <a:ext cx="3566160" cy="54864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04688" y="1005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ECF5"/>
                </a:solidFill>
              </a:rPr>
              <a:t>WHY USE ENUM?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04688" y="1389888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Using enum instead of raw integers: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  • Makes code self-documenting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  • Prevents invalid state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  • Enables switch/case cleanly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  • Works on all Arduino boards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Internally it is just 0, 1, 2, 3 — but your code reads like English.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3566160"/>
            <a:ext cx="8778240" cy="347472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</a:rPr>
              <a:t>STATE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</a:rPr>
              <a:t>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584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3931920"/>
            <a:ext cx="8778240" cy="256032"/>
          </a:xfrm>
          <a:prstGeom prst="rect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3986784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MOVE_FORWARD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14600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</a:rPr>
              <a:t>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Default — robot drives straight at set speed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2880" y="4206240"/>
            <a:ext cx="8778240" cy="256032"/>
          </a:xfrm>
          <a:prstGeom prst="rect">
            <a:avLst/>
          </a:prstGeom>
          <a:solidFill>
            <a:srgbClr val="09192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4261104"/>
            <a:ext cx="164592" cy="164592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TURN_LEFT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1460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</a:rPr>
              <a:t>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0" y="4206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Left motors reverse, right motors forward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4480560"/>
            <a:ext cx="8778240" cy="256032"/>
          </a:xfrm>
          <a:prstGeom prst="rect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4535424"/>
            <a:ext cx="164592" cy="164592"/>
          </a:xfrm>
          <a:prstGeom prst="ellipse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TURN_RIGHT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14600" y="4480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</a:rPr>
              <a:t>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4720" y="4480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Right motors reverse, left motors forward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2880" y="4754880"/>
            <a:ext cx="8778240" cy="256032"/>
          </a:xfrm>
          <a:prstGeom prst="rect">
            <a:avLst/>
          </a:prstGeom>
          <a:solidFill>
            <a:srgbClr val="09192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4809744"/>
            <a:ext cx="164592" cy="16459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514600" y="4754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</a:rPr>
              <a:t>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74720" y="4754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All motors off — highest safety priority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— DECISION LOGIC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92024" y="877824"/>
            <a:ext cx="5212080" cy="3977640"/>
          </a:xfrm>
          <a:prstGeom prst="rect">
            <a:avLst/>
          </a:prstGeom>
          <a:solidFill>
            <a:srgbClr val="09192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52120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decision.ino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243584"/>
            <a:ext cx="5047488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updateState(int front, int left, int right) {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SAFETY first — checked in priority order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(front &lt; 20)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currentState = STOP;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(left &lt; 15)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currentState = TURN_RIGHT;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(right &lt; 15)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currentState = TURN_LEFT;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currentState = MOVE_FORWARD;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914400"/>
            <a:ext cx="3383280" cy="914400"/>
          </a:xfrm>
          <a:prstGeom prst="rect">
            <a:avLst/>
          </a:prstGeom>
          <a:solidFill>
            <a:srgbClr val="091929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77840" y="914400"/>
            <a:ext cx="54864" cy="9144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87568" y="96926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</a:rPr>
              <a:t>Priority order matters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87568" y="129844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90A8"/>
                </a:solidFill>
              </a:rPr>
              <a:t>STOP is checked FIRST. The order of if/else determines which behavior wins when multiple sensors trigger.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1901952"/>
            <a:ext cx="3383280" cy="914400"/>
          </a:xfrm>
          <a:prstGeom prst="rect">
            <a:avLst/>
          </a:prstGeom>
          <a:solidFill>
            <a:srgbClr val="09192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77840" y="1901952"/>
            <a:ext cx="54864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87568" y="195681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Thresholds are tunable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87568" y="228600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90A8"/>
                </a:solidFill>
              </a:rPr>
              <a:t>20 cm and 15 cm are starting points. Calibrate based on your robot speed and sensor response time.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889504"/>
            <a:ext cx="3383280" cy="914400"/>
          </a:xfrm>
          <a:prstGeom prst="rect">
            <a:avLst/>
          </a:prstGeom>
          <a:solidFill>
            <a:srgbClr val="09192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77840" y="2889504"/>
            <a:ext cx="54864" cy="914400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87568" y="294436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ECF5"/>
                </a:solidFill>
              </a:rPr>
              <a:t>Hysteresis is critical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87568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90A8"/>
                </a:solidFill>
              </a:rPr>
              <a:t>If threshold is 20 cm, only switch back to MOVE_FORWARD when dist &gt; 30 cm. Prevents rapid state flipping.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3877056"/>
            <a:ext cx="3383280" cy="914400"/>
          </a:xfrm>
          <a:prstGeom prst="rect">
            <a:avLst/>
          </a:prstGeom>
          <a:solidFill>
            <a:srgbClr val="09192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77840" y="3877056"/>
            <a:ext cx="54864" cy="9144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87568" y="393192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D4"/>
                </a:solidFill>
              </a:rPr>
              <a:t>Wrap in a function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87568" y="426110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90A8"/>
                </a:solidFill>
              </a:rPr>
              <a:t>Separating decision logic from execution makes code cleaner and easier to test independently.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— EXECUTE BEHAVIOR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5212080" cy="2651760"/>
          </a:xfrm>
          <a:prstGeom prst="rect">
            <a:avLst/>
          </a:prstGeom>
          <a:solidFill>
            <a:srgbClr val="09192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52120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execute.ino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243584"/>
            <a:ext cx="504748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executeBehavior()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(currentState)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MOVE_FORWARD: moveForward();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TURN_LEFT:    turnLeft();  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TURN_RIGHT:   turnRight(); 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STOP:         stopMotors();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3730752"/>
            <a:ext cx="5212080" cy="1115568"/>
          </a:xfrm>
          <a:prstGeom prst="rect">
            <a:avLst/>
          </a:prstGeom>
          <a:solidFill>
            <a:srgbClr val="09192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3730752"/>
            <a:ext cx="52120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376732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loop.ino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05993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updateState(front, left, right);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executeBehavior();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delay(30);  // ~33 Hz update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914400"/>
            <a:ext cx="3383280" cy="3931920"/>
          </a:xfrm>
          <a:prstGeom prst="rect">
            <a:avLst/>
          </a:prstGeom>
          <a:solidFill>
            <a:srgbClr val="0F233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77840" y="914400"/>
            <a:ext cx="33832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0" y="9509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MOTOR FUNCTIONS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1280160"/>
            <a:ext cx="3127248" cy="658368"/>
          </a:xfrm>
          <a:prstGeom prst="rect">
            <a:avLst/>
          </a:prstGeom>
          <a:solidFill>
            <a:srgbClr val="091929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33872" y="132588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moveForward()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16276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Both motors forward at full duty cycle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2011680"/>
            <a:ext cx="3127248" cy="658368"/>
          </a:xfrm>
          <a:prstGeom prst="rect">
            <a:avLst/>
          </a:prstGeom>
          <a:solidFill>
            <a:srgbClr val="091929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33872" y="20574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turnLeft()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33872" y="235915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Left motor reverse, right motor forward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743200"/>
            <a:ext cx="3127248" cy="658368"/>
          </a:xfrm>
          <a:prstGeom prst="rect">
            <a:avLst/>
          </a:prstGeom>
          <a:solidFill>
            <a:srgbClr val="091929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33872" y="27889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turnRight()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33872" y="309067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Right motor reverse, left motor forward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3474720"/>
            <a:ext cx="3127248" cy="658368"/>
          </a:xfrm>
          <a:prstGeom prst="rect">
            <a:avLst/>
          </a:prstGeom>
          <a:solidFill>
            <a:srgbClr val="091929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33872" y="35204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stopMotors()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382219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</a:rPr>
              <a:t>Both motors zero — brake mode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4224528"/>
            <a:ext cx="3383280" cy="640080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87568" y="42611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ECF5"/>
                </a:solidFill>
              </a:rPr>
              <a:t>delay(30) = 33 updates/sec. Too fast = sensor noise. Too slow = sluggish. 20-50ms is the sweet spot.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4008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ROS2 INTRODUCTION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90A8"/>
                </a:solidFill>
              </a:rPr>
              <a:t>The operating system of modern robotics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ROS2?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78638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E8F0"/>
                </a:solidFill>
              </a:rPr>
              <a:t>ROS2 is a middleware framework for building modular, distributed robot software systems.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4206240" cy="356616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280160"/>
            <a:ext cx="420624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371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1755648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Node:        A single-purpose process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Topic:       A named communication channel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Message:     Data structure sent over a topic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Publisher:   Node that sends messages to a topic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Subscriber:  Node that receives from a topic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Executor:    Manages callbacks and event loop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297680" cy="3566160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297680" cy="54864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ECF5"/>
                </a:solidFill>
              </a:rPr>
              <a:t>ROS2 vs ROS1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4297680" cy="274320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7556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90A8"/>
                </a:solidFill>
              </a:rPr>
              <a:t>Feature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7556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</a:rPr>
              <a:t>ROS1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43800" y="17556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ROS2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048256"/>
            <a:ext cx="4297680" cy="475488"/>
          </a:xfrm>
          <a:prstGeom prst="rect">
            <a:avLst/>
          </a:prstGeom>
          <a:solidFill>
            <a:srgbClr val="09192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0482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0"/>
                </a:solidFill>
              </a:rPr>
              <a:t>Master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04825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</a:rPr>
              <a:t>roscore required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43800" y="20482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No master (DDS)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596896"/>
            <a:ext cx="4297680" cy="475488"/>
          </a:xfrm>
          <a:prstGeom prst="rect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5968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0"/>
                </a:solidFill>
              </a:rPr>
              <a:t>Real-time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25968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</a:rPr>
              <a:t>Not supported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25968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Full RT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145536"/>
            <a:ext cx="4297680" cy="475488"/>
          </a:xfrm>
          <a:prstGeom prst="rect">
            <a:avLst/>
          </a:prstGeom>
          <a:solidFill>
            <a:srgbClr val="09192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14553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0"/>
                </a:solidFill>
              </a:rPr>
              <a:t>Security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1455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</a:rPr>
              <a:t>None by default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43800" y="314553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SROS2 built-in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694176"/>
            <a:ext cx="4297680" cy="475488"/>
          </a:xfrm>
          <a:prstGeom prst="rect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6941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0"/>
                </a:solidFill>
              </a:rPr>
              <a:t>Python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0" y="36941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</a:rPr>
              <a:t>Limited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36941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Full rclpy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4334256"/>
            <a:ext cx="4297680" cy="475488"/>
          </a:xfrm>
          <a:prstGeom prst="rect">
            <a:avLst/>
          </a:prstGeom>
          <a:solidFill>
            <a:srgbClr val="091929"/>
          </a:solidFill>
          <a:ln w="12700">
            <a:solidFill>
              <a:srgbClr val="0F2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42428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0"/>
                </a:solidFill>
              </a:rPr>
              <a:t>Lifecycle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0" y="4242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</a:rPr>
              <a:t>Manual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43800" y="42428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Managed nodes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ROS2 NODE ARCHITECTURE — WHAT WE BUILT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78638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90A8"/>
                </a:solidFill>
              </a:rPr>
              <a:t>Two nodes. One topic between them. The FSM drives the robot directly via /cmd_vel.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3931920" cy="246888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234440"/>
            <a:ext cx="3931920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5331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298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D4"/>
                </a:solidFill>
              </a:rPr>
              <a:t>Sensor Node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92608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sensor_node.py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2608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subscribes ← /scan (LaserScan)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publishes  → /sensor_data (String JSON)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92608" y="2688336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Reads Turtlebot3 LIDAR via /scan. Extracts front, left, right distances in cm. Publishes as JSON to /sensor_data.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331720"/>
            <a:ext cx="457200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968496" y="2935224"/>
            <a:ext cx="1371600" cy="274320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88620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/sensor_data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46320" y="1234440"/>
            <a:ext cx="4114800" cy="2468880"/>
          </a:xfrm>
          <a:prstGeom prst="rect">
            <a:avLst/>
          </a:prstGeom>
          <a:solidFill>
            <a:srgbClr val="0F233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46320" y="1234440"/>
            <a:ext cx="41148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35331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40680" y="1298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FSM Node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956048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fsm_node.py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56048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subscribes ← /sensor_data (String JSON)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956048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publishes  → /cmd_vel   (Twist)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956048" y="2633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publishes  → /fsm_state (String)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956048" y="29626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</a:rPr>
              <a:t>Runs the FSM. Picks state based on distances. Sends Twist velocity commands directly to the robot.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846320" y="3858768"/>
            <a:ext cx="4114800" cy="274320"/>
          </a:xfrm>
          <a:prstGeom prst="rect">
            <a:avLst/>
          </a:prstGeom>
          <a:solidFill>
            <a:srgbClr val="132944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84632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/cmd_vel → Turtlebot3 moves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182880" y="4297680"/>
            <a:ext cx="8778240" cy="658368"/>
          </a:xfrm>
          <a:prstGeom prst="rect">
            <a:avLst/>
          </a:prstGeom>
          <a:solidFill>
            <a:srgbClr val="09192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182880" y="4297680"/>
            <a:ext cx="8778240" cy="256032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20040" y="431596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MONITOR IN TERMINAL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320040" y="4553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topic echo /sensor_data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2514600" y="4553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topic echo /fsm_state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709160" y="4553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topic echo /cmd_vel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903720" y="4553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node list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ROS2 — ACTUAL CODE IN YOUR VM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3246120"/>
          </a:xfrm>
          <a:prstGeom prst="rect">
            <a:avLst/>
          </a:prstGeom>
          <a:solidFill>
            <a:srgbClr val="09192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25196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sensor_node.py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243584"/>
            <a:ext cx="4087368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SensorNode(Node):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super().__init__('sensor_node')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self.scan_sub = self.create_subscription(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LaserScan, '/scan',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self.scan_callback, 10)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self.sensor_pub = self.create_publisher(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String, '/sensor_data', 10)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scan_callback(self, msg):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 = get_valid_range(msg.ranges,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 = get_valid_range(msg.ranges, 90)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 = get_valid_range(msg.ranges, 270)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{'front_cm': front*100,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'left_cm':  left*100,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'right_cm': right*100}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String()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out.data = json.dumps(data)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self.sensor_pub.publish(out)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51960" cy="3246120"/>
          </a:xfrm>
          <a:prstGeom prst="rect">
            <a:avLst/>
          </a:prstGeom>
          <a:solidFill>
            <a:srgbClr val="09192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25196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9509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fsm_node.py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243584"/>
            <a:ext cx="4087368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FSMNode(Node):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super().__init__('fsm_node')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self.sub = self.create_subscription(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String, '/sensor_data',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self.sensor_callback, 10)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self.cmd_pub = self.create_publisher(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Twist, '/cmd_vel', 10)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sensor_callback(self, msg):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json.loads(msg.data)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self.update_state(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data['front_cm'],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data['left_cm'],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data['right_cm'])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self.execute_behaviour()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4315968"/>
            <a:ext cx="8778240" cy="594360"/>
          </a:xfrm>
          <a:prstGeom prst="rect">
            <a:avLst/>
          </a:prstGeom>
          <a:solidFill>
            <a:srgbClr val="09192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4315968"/>
            <a:ext cx="8778240" cy="256032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43342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RUN IN YOUR VM — 3 terminals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572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ros2 run risp_autonomy sensor_node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46120" y="4572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ros2 run risp_autonomy fsm_node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72200" y="4572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ros2 topic echo /fsm_state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4008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BRIDGE TO INTELLIGENCE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90A8"/>
                </a:solidFill>
              </a:rPr>
              <a:t>Autonomy reacts. Intelligence understands.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AUTONOMY vs INTELLIGENCE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78638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90A8"/>
                </a:solidFill>
              </a:rPr>
              <a:t>Both stop the robot — but for very different reasons.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206240" cy="3657600"/>
          </a:xfrm>
          <a:prstGeom prst="rect">
            <a:avLst/>
          </a:prstGeom>
          <a:solidFill>
            <a:srgbClr val="0F2339"/>
          </a:solidFill>
          <a:ln w="1270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234440"/>
            <a:ext cx="4206240" cy="347472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90A8"/>
                </a:solidFill>
              </a:rPr>
              <a:t>BEFORE — AUTONOMY (Reactive)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3931920" cy="1005840"/>
          </a:xfrm>
          <a:prstGeom prst="rect">
            <a:avLst/>
          </a:prstGeom>
          <a:solidFill>
            <a:srgbClr val="091929"/>
          </a:solidFill>
          <a:ln w="12700">
            <a:solidFill>
              <a:srgbClr val="6E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393192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6824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90A8"/>
                </a:solidFill>
              </a:rPr>
              <a:t>reactive.ino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9751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(distance &lt; 20)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stop();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that's all it knows.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743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90A8"/>
                </a:solidFill>
              </a:rPr>
              <a:t>What the robot knows: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X   Something is 18 cm away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X   Not what it 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858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X   Not if it is moving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242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0A8"/>
                </a:solidFill>
              </a:rPr>
              <a:t>X   Not if it is dangerous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606040"/>
            <a:ext cx="347472" cy="34747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754880" y="1234440"/>
            <a:ext cx="4206240" cy="3657600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54880" y="1234440"/>
            <a:ext cx="4206240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9204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0F1E"/>
                </a:solidFill>
              </a:rPr>
              <a:t>AFTER — INTELLIGENCE (Context)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92040" y="1645920"/>
            <a:ext cx="3931920" cy="1005840"/>
          </a:xfrm>
          <a:prstGeom prst="rect">
            <a:avLst/>
          </a:prstGeom>
          <a:solidFill>
            <a:srgbClr val="09192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892040" y="1645920"/>
            <a:ext cx="393192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32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983480" y="16824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intelligent.py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83480" y="19751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personDetected():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greet()  # context-aware!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2743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ECF5"/>
                </a:solidFill>
              </a:rPr>
              <a:t>What the robot knows: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92040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</a:rPr>
              <a:t>OK  It is a person, not a wall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92040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</a:rPr>
              <a:t>OK  They are standing still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92040" y="3858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</a:rPr>
              <a:t>OK  It is safe to approach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92040" y="4242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</a:rPr>
              <a:t>OK  Appropriate action: greet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ROBOTICS INTELLIGENCE STACK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78638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90A8"/>
                </a:solidFill>
              </a:rPr>
              <a:t>Your FSM is the foundation. Here is what gets built on top of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" y="1261872"/>
            <a:ext cx="8778240" cy="694944"/>
          </a:xfrm>
          <a:prstGeom prst="rect">
            <a:avLst/>
          </a:prstGeom>
          <a:solidFill>
            <a:srgbClr val="0F2339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261872"/>
            <a:ext cx="1097280" cy="694944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1261872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LAYER 5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42646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10512" y="13350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2CF"/>
                </a:solidFill>
              </a:rPr>
              <a:t>Mission Planning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810512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High-level goals — go to room B, pick up object. Decomposes into sub-tasks.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82880" y="2029968"/>
            <a:ext cx="8778240" cy="694944"/>
          </a:xfrm>
          <a:prstGeom prst="rect">
            <a:avLst/>
          </a:prstGeom>
          <a:solidFill>
            <a:srgbClr val="0F2339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82880" y="2029968"/>
            <a:ext cx="1097280" cy="694944"/>
          </a:xfrm>
          <a:prstGeom prst="rect">
            <a:avLst/>
          </a:prstGeom>
          <a:solidFill>
            <a:srgbClr val="7FECF5"/>
          </a:solidFill>
          <a:ln w="12700">
            <a:solidFill>
              <a:srgbClr val="7F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2029968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LAYER 4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19456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10512" y="2103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ECF5"/>
                </a:solidFill>
              </a:rPr>
              <a:t>Path Planning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810512" y="2414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A*, RRT, Dijkstra — find a route through a map without hitting obstacles.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182880" y="2798064"/>
            <a:ext cx="8778240" cy="694944"/>
          </a:xfrm>
          <a:prstGeom prst="rect">
            <a:avLst/>
          </a:prstGeom>
          <a:solidFill>
            <a:srgbClr val="0F2339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82880" y="2798064"/>
            <a:ext cx="1097280" cy="69494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82880" y="2798064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LAYER 3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2962656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10512" y="28712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</a:rPr>
              <a:t>Perception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810512" y="3182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Computer vision, SLAM, object detection — building a model of the world.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182880" y="3566160"/>
            <a:ext cx="8778240" cy="694944"/>
          </a:xfrm>
          <a:prstGeom prst="rect">
            <a:avLst/>
          </a:prstGeom>
          <a:solidFill>
            <a:srgbClr val="132944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82880" y="3566160"/>
            <a:ext cx="1097280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182880" y="3566160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LAYER 2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3730752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810512" y="36393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Behavior (FSM/BT)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810512" y="39502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YOU ARE HERE. States, transitions, reactive behavior. Core of this workshop.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949440" y="3785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← YOU ARE HERE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182880" y="4334256"/>
            <a:ext cx="8778240" cy="694944"/>
          </a:xfrm>
          <a:prstGeom prst="rect">
            <a:avLst/>
          </a:prstGeom>
          <a:solidFill>
            <a:srgbClr val="0F2339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182880" y="4334256"/>
            <a:ext cx="1097280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182880" y="4334256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E"/>
                </a:solidFill>
              </a:rPr>
              <a:t>LAYER 1</a:t>
            </a:r>
            <a:endParaRPr lang="en-US" sz="10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4498848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810512" y="4407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Hardware Drivers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810512" y="47183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Sensor reads, motor PWM, serial comms — direct hardware interface.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 COMPLETE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875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D4"/>
                </a:solidFill>
              </a:rPr>
              <a:t>RISP Workshop 6 — Autonomy Layer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1536192"/>
            <a:ext cx="4206240" cy="102412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85623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16276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Autonomy Fundamentals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7240" y="2011680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Sense → Decide → Act. The core feedback loop that drives all autonomous robots.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09160" y="1536192"/>
            <a:ext cx="4206240" cy="102412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85623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7800" y="16276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FSM Concepts &amp; Diagram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257800" y="2011680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States, transitions, priorities. Predictable and debuggable robot behavior.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28600" y="2670048"/>
            <a:ext cx="4206240" cy="102412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99008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240" y="276148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FSM Exercise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777240" y="314553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You designed a 3-sensor FSM from scratch — states, transitions, truth table.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709160" y="2670048"/>
            <a:ext cx="4206240" cy="102412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99008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276148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Tinkercad Code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257800" y="314553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Read → updateState() → executeBehavior(). Clean separation of concerns.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228600" y="3803904"/>
            <a:ext cx="4206240" cy="102412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4123944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7240" y="389534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ROS2 Nodes and Topics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77240" y="4279392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Sensor node publishes, FSM node subscribes, control node acts. Live in VM.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709160" y="3803904"/>
            <a:ext cx="4206240" cy="1024128"/>
          </a:xfrm>
          <a:prstGeom prst="rect">
            <a:avLst/>
          </a:prstGeom>
          <a:solidFill>
            <a:srgbClr val="13294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123944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57800" y="389534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Bridge to Intelligence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5257800" y="4279392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90A8"/>
                </a:solidFill>
              </a:rPr>
              <a:t>FSM reacts to numbers. AI understands context. Layer 2 of the full stack.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2404</Words>
  <Application>Microsoft Office PowerPoint</Application>
  <PresentationFormat>On-screen Show (16:9)</PresentationFormat>
  <Paragraphs>480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RISP Workshop 6 – Autonomy Layer</dc:title>
  <dc:subject>PptxGenJS Presentation</dc:subject>
  <dc:creator>PptxGenJS</dc:creator>
  <cp:lastModifiedBy>مشعل السلمي</cp:lastModifiedBy>
  <cp:revision>2</cp:revision>
  <dcterms:created xsi:type="dcterms:W3CDTF">2026-04-16T00:16:07Z</dcterms:created>
  <dcterms:modified xsi:type="dcterms:W3CDTF">2026-04-19T18:58:04Z</dcterms:modified>
</cp:coreProperties>
</file>